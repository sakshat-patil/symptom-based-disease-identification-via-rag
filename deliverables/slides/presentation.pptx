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517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Calibri"/>
              </a:rPr>
              <a:t>Record-Based Medical Diagnostic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BD5E1"/>
                </a:solidFill>
                <a:latin typeface="Calibri"/>
              </a:rPr>
              <a:t>A Hybrid FP-Growth + Retrieval-Augmented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FFFFF"/>
                </a:solidFill>
                <a:latin typeface="Calibri"/>
              </a:rPr>
              <a:t>Sakshat Nandkumar Patil (018318287)  ·  Vineet Kumar (019140433)  ·  Aishwarya Madhave (019129110)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BD5E1"/>
                </a:solidFill>
                <a:latin typeface="Calibri"/>
              </a:rPr>
              <a:t>Department of Computer Engineering  ·  CMPE 255 Data Mining (Spring 2026)  ·  San José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3B66"/>
                </a:solidFill>
                <a:latin typeface="Calibri"/>
              </a:rPr>
              <a:t>1.  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Why diagnostic decision support needs both rules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A3D"/>
                </a:solidFill>
                <a:latin typeface="Calibri"/>
              </a:rPr>
              <a:t>•  Clinicians face cognitive overload synthesizing symptoms, history, and the medical literature.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3D"/>
                </a:solidFill>
                <a:latin typeface="Calibri"/>
              </a:rPr>
              <a:t>•  Existing tools either rely on hand-built ontologies (expensive) or are black-box models (no explanation).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3D"/>
                </a:solidFill>
                <a:latin typeface="Calibri"/>
              </a:rPr>
              <a:t>•  Goal: surface ranked diagnoses from a symptom set AND ground each one in citable evidence.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3D"/>
                </a:solidFill>
                <a:latin typeface="Calibri"/>
              </a:rPr>
              <a:t>•  Our angle: combine interpretable association rules with a biomedical retrieval index.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A3D"/>
                </a:solidFill>
                <a:latin typeface="Calibri"/>
              </a:rPr>
              <a:t>•  Every prediction in our system is auditable through both a mined rule and the retrieved passage.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554480"/>
            <a:ext cx="4023360" cy="4572000"/>
          </a:xfrm>
          <a:prstGeom prst="roundRect">
            <a:avLst/>
          </a:prstGeom>
          <a:solidFill>
            <a:srgbClr val="F6F8FC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By the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945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A3D"/>
                </a:solidFill>
                <a:latin typeface="Calibri"/>
              </a:rPr>
              <a:t>•  4,920 patient records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3D"/>
                </a:solidFill>
                <a:latin typeface="Calibri"/>
              </a:rPr>
              <a:t>•  41 diseases, 131 symptom tokens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3D"/>
                </a:solidFill>
                <a:latin typeface="Calibri"/>
              </a:rPr>
              <a:t>•  23,839 association rules mined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3D"/>
                </a:solidFill>
                <a:latin typeface="Calibri"/>
              </a:rPr>
              <a:t>•  24,063 MedQuAD passages indexed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3D"/>
                </a:solidFill>
                <a:latin typeface="Calibri"/>
              </a:rPr>
              <a:t>•  200 synthetic test cases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A3D"/>
                </a:solidFill>
                <a:latin typeface="Calibri"/>
              </a:rPr>
              <a:t>•  82.5% Recall@1, 0.857 MRR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CMPE 255 Spring 2026  ·  Sakshat Patil  ·  Vineet Kumar  ·  Aishwarya Madhave  ·  Slide 1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3B66"/>
                </a:solidFill>
                <a:latin typeface="Calibri"/>
              </a:rPr>
              <a:t>2.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All six proposal steps wired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691640"/>
            <a:ext cx="3749039" cy="2103120"/>
          </a:xfrm>
          <a:prstGeom prst="roundRect">
            <a:avLst/>
          </a:prstGeom>
          <a:solidFill>
            <a:srgbClr val="F6F8FC"/>
          </a:solidFill>
          <a:ln w="254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7830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Step 1 · Data 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338327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Kaggle CSV → 4,920 transactions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Synthea FHIR ETL (parallel path)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131 unique symptom tokens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Sakshat — owner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91640"/>
            <a:ext cx="3749039" cy="2103120"/>
          </a:xfrm>
          <a:prstGeom prst="roundRect">
            <a:avLst/>
          </a:prstGeom>
          <a:solidFill>
            <a:srgbClr val="F6F8FC"/>
          </a:solidFill>
          <a:ln w="254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7830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A86FF"/>
                </a:solidFill>
                <a:latin typeface="Calibri"/>
              </a:rPr>
              <a:t>Step 2 · FP-Growth Mining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240280"/>
            <a:ext cx="338327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mlxtend, min_support=0.005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23,839 rules / 41 diseases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MiningConf(Q,d) at query time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Sakshat —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91640"/>
            <a:ext cx="3749039" cy="2103120"/>
          </a:xfrm>
          <a:prstGeom prst="roundRect">
            <a:avLst/>
          </a:prstGeom>
          <a:solidFill>
            <a:srgbClr val="F6F8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78308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Step 3 · Knowledge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80"/>
            <a:ext cx="338327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24,063 MedQuAD passages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MiniLM 384d / PubMedBERT 768d / Azure 3072d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FAISS local · Pinecone serverless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Vineet —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931920"/>
            <a:ext cx="3749039" cy="2103120"/>
          </a:xfrm>
          <a:prstGeom prst="roundRect">
            <a:avLst/>
          </a:prstGeom>
          <a:solidFill>
            <a:srgbClr val="F6F8FC"/>
          </a:solidFill>
          <a:ln w="25400">
            <a:solidFill>
              <a:srgbClr val="EF4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4023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76F"/>
                </a:solidFill>
                <a:latin typeface="Calibri"/>
              </a:rPr>
              <a:t>Step 4 · RAG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338327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Dense retrieval + synonym expansion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Pinecone reranker: Cohere 3.5 / BGE-v2-m3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Template + OpenAI structured explainers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Vineet + Aishwarya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931920"/>
            <a:ext cx="3749039" cy="2103120"/>
          </a:xfrm>
          <a:prstGeom prst="roundRect">
            <a:avLst/>
          </a:prstGeom>
          <a:solidFill>
            <a:srgbClr val="F6F8FC"/>
          </a:solidFill>
          <a:ln w="25400">
            <a:solidFill>
              <a:srgbClr val="F69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4023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69B2C"/>
                </a:solidFill>
                <a:latin typeface="Calibri"/>
              </a:rPr>
              <a:t>Step 5 · Hybrid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480560"/>
            <a:ext cx="338327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α·RetrievalSim + (1−α)·MiningConf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α = 0.3 (sweep-validated)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Pooled candidate set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Aishwarya — owner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749039" cy="2103120"/>
          </a:xfrm>
          <a:prstGeom prst="roundRect">
            <a:avLst/>
          </a:prstGeom>
          <a:solidFill>
            <a:srgbClr val="F6F8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4023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Step 6 · 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480560"/>
            <a:ext cx="338327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Recall@K, MRR (200 cases)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α sweep + per-stage latency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155 pytest tests (147 unit · 8 live)</a:t>
            </a:r>
          </a:p>
          <a:p>
            <a:pPr>
              <a:spcAft>
                <a:spcPts val="600"/>
              </a:spcAft>
            </a:pPr>
            <a:r>
              <a:rPr sz="1100">
                <a:solidFill>
                  <a:srgbClr val="1F2A3D"/>
                </a:solidFill>
                <a:latin typeface="Calibri"/>
              </a:rPr>
              <a:t>•  Aishwarya —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3B66"/>
                </a:solidFill>
                <a:latin typeface="Calibri"/>
              </a:rPr>
              <a:t>Three-tier deployment:  Next.js 14 web  →  FastAPI AI service (MPS)  →  Data tier (FAISS local | Pinecone managed)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Production demo: Azure OpenAI 3072d  →  Pinecone (255-data-mining, 24,063 vectors)  →  fused mining +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CMPE 255 Spring 2026  ·  Sakshat Patil  ·  Vineet Kumar  ·  Aishwarya Madhave  ·  Slide 2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3B66"/>
                </a:solidFill>
                <a:latin typeface="Calibri"/>
              </a:rPr>
              <a:t>3.  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Two complementary data sources, one fusion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Disease-Symptom transactions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4,920 rows × 41 diseases (Kaggle-style schema)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Up to 17 symptoms per row, 131 unique tokens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ETL: lowercase + snake_case normalisation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FP-Growth basket = symptoms + DX:disease item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MedQuAD biomedical Q&amp;A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24,063 passages from 11k NIH XML files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1000-char chunks with 200-char overlap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Embedded with MiniLM and PubMedBERT (MPS)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Indexed with FAISS IndexFlatIP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Mining-time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F2A3D"/>
                </a:solidFill>
                <a:latin typeface="Cambria Math"/>
              </a:rPr>
              <a:t>MiningConf(Q,d) = max  c(A→d) · |A∩Q|/|A|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        over rules A→d with A ⊆ 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108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D3B66"/>
                </a:solidFill>
                <a:latin typeface="Calibri"/>
              </a:rPr>
              <a:t>Synonym bridge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muscle_pain  →  myalgia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high_fever  →  pyrexia, hyperthermia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breathlessness  →  dyspnea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yellowish_skin  →  jaundice, icterus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fast_heart_rate  →  tachycardia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486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130 entries; covers all 41 disease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CMPE 255 Spring 2026  ·  Sakshat Patil  ·  Vineet Kumar  ·  Aishwarya Madhave  ·  Slide 3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3B66"/>
                </a:solidFill>
                <a:latin typeface="Calibri"/>
              </a:rPr>
              <a:t>4.  Results: 200 synthetic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Fusion beats both signals; α=0.3 is the sweet spot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5760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80160"/>
                <a:gridCol w="822960"/>
                <a:gridCol w="822960"/>
                <a:gridCol w="822960"/>
              </a:tblGrid>
              <a:tr h="426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Variant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R@1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R@10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mining-only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α=0.0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0.829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MiniLM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0.151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MiniLM+syn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fused 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0.820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0.895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PubMedBERT+syn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0.194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MiniLM  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fused 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A3D"/>
                          </a:solidFill>
                          <a:latin typeface="Calibri"/>
                        </a:rPr>
                        <a:t>0.857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B66"/>
                </a:solidFill>
                <a:latin typeface="Calibri"/>
              </a:rPr>
              <a:t>Best fused: MiniLM + synonym expansion, α=0.3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+3.5 R@1 over mining alone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Retrieval-only collapses (vocab gap); +syn helps but ceiling stays low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Signals are complementary, not redundant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852160"/>
            <a:ext cx="5943600" cy="640080"/>
          </a:xfrm>
          <a:prstGeom prst="roundRect">
            <a:avLst/>
          </a:prstGeom>
          <a:solidFill>
            <a:srgbClr val="ECFEFF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7490"/>
                </a:solidFill>
                <a:latin typeface="Calibri"/>
              </a:rPr>
              <a:t>⏱ Latency: 12 ms mean / 20 ms p95 (default config, 100 queries on M3 Pro)</a:t>
            </a:r>
          </a:p>
        </p:txBody>
      </p:sp>
      <p:pic>
        <p:nvPicPr>
          <p:cNvPr id="10" name="Picture 9" descr="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554480"/>
            <a:ext cx="5120640" cy="3072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66560" y="5852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α-sweep peaks on [0.1, 0.4] — Recall@1 collapses for α≥0.7.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CMPE 255 Spring 2026  ·  Sakshat Patil  ·  Vineet Kumar  ·  Aishwarya Madhave  ·  Slide 4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3B66"/>
                </a:solidFill>
                <a:latin typeface="Calibri"/>
              </a:rPr>
              <a:t>5.  Live Demo: Next.js Clinical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Grounded evidence the proposal asked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Next.js 14 web app talks to FastAPI inference service over REST.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Symptom picker with autocomplete + 6 clinical presets.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Per-diagnosis card has 4 sections: symptom→disease link, statistical prior, evidence quality, what's missing.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Evidence cards show the highlighted sentence (yellow) that actually mentions the symptom or disease.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Source authority badges (NIH NHLBI = tier 1, etc.) and passage-type chips (symptoms / diagnosis / treatment).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Live α slider, mode/backend toggles, source + passage-type filters.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OpenAI gpt-4o-mini explainer toggle (optional, with template fallback).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Latency strip after every query: total + per-stage breakdown.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554480"/>
            <a:ext cx="4937760" cy="457200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Demo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1. Pick 'Cardiac event' preset.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2. heart_attack ranks #1 (mining 1.00, fused 0.70).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3. Read clinical card: link / prior / evidence / what's missing.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4. Inspect highlighted MedQuAD sentence with NIH NHLBI badge.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5. Filter to source = MedlinePlus → see only those passages.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6. Toggle to OpenAI explainer → richer prose, same citations.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2E8F0"/>
                </a:solidFill>
                <a:latin typeface="Calibri"/>
              </a:rPr>
              <a:t>•  7. Drag α slider: rankings re-fuse live.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CMPE 255 Spring 2026  ·  Sakshat Patil  ·  Vineet Kumar  ·  Aishwarya Madhave  ·  Slide 5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D3B66"/>
                </a:solidFill>
                <a:latin typeface="Calibri"/>
              </a:rPr>
              <a:t>6. 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>What we shipped,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D3B66"/>
                </a:solidFill>
                <a:latin typeface="Calibri"/>
              </a:rPr>
              <a:t>Shipped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Reproducible FP-Growth pipeline (23,839 rules, 100% disease coverage)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Three encoders: MiniLM 384d, PubMedBERT 768d, Azure OpenAI 3072d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Pinecone Serverless production index (255-data-mining, 24,063 vectors)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Claim-level evidence with NIH source-tier badges + specificity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Pinecone Cohere/BGE reranker with auto-fallback (free tier safe)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Clinical-structured explainer: deterministic template + OpenAI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Next.js 14 UI + FastAPI microservice + Python data tier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82.5% R@1, 0.857 MRR · Heart Attack fused 0.831 on Azure path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A3D"/>
                </a:solidFill>
                <a:latin typeface="Calibri"/>
              </a:rPr>
              <a:t>•  155 pytest tests passing (147 unit, 8 live integration)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D3B66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UMLS-backed automatic synonym mining (replace curated dict)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Cross-encoder reranker over &lt;disease, passage&gt; pairs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Evaluate on Synthea FHIR pipeline (held-out vocabulary)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Open-domain disease universe via UMLS canonicalisation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A3D"/>
                </a:solidFill>
                <a:latin typeface="Calibri"/>
              </a:rPr>
              <a:t>•  Learned fusion (XGBoost) using rule lift, passage source,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3B66"/>
                </a:solidFill>
                <a:latin typeface="Calibri"/>
              </a:rPr>
              <a:t>Sakshat Patil  ·  Vineet Kumar  ·  Aishwarya Madhave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Code: github.com/sakshat-patil/Symptom-Based-Disease-Identification-via-RAG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>CMPE 255 Spring 2026  ·  Sakshat Patil  ·  Vineet Kumar  ·  Aishwarya Madhave  ·  Slide 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