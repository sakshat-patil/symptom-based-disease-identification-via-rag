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45720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651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Calibri"/>
              </a:rPr>
              <a:t>Record-Based Medical Diagnostic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520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CBD5E1"/>
                </a:solidFill>
                <a:latin typeface="Calibri"/>
              </a:rPr>
              <a:t>A Hybrid FP-Growth and Retrieval-Augmented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Calibri"/>
              </a:rPr>
              <a:t>Sakshat Nandkumar Patil (018318287), Vineet Kumar (019140433), Aishwarya Madhave (019129110)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66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BD5E1"/>
                </a:solidFill>
                <a:latin typeface="Calibri"/>
              </a:rPr>
              <a:t>Department of Computer Engineering, CMPE 255 Data Mining (Spring 2026), San Jose State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D3B66"/>
                </a:solidFill>
                <a:latin typeface="Calibri"/>
              </a:rPr>
              <a:t>1. Problem and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Why diagnostic decision support needs both rules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6858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1F2A3D"/>
                </a:solidFill>
                <a:latin typeface="Calibri"/>
              </a:rPr>
              <a:t>  Clinicians face cognitive overload synthesizing symptoms, history, and the medical literature.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F2A3D"/>
                </a:solidFill>
                <a:latin typeface="Calibri"/>
              </a:rPr>
              <a:t>  Existing tools either rely on hand-built ontologies (expensive) or are black-box models (no explanation).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F2A3D"/>
                </a:solidFill>
                <a:latin typeface="Calibri"/>
              </a:rPr>
              <a:t>  Goal: surface ranked diagnoses from a symptom set AND ground each one in citable evidence.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F2A3D"/>
                </a:solidFill>
                <a:latin typeface="Calibri"/>
              </a:rPr>
              <a:t>  Our angle: combine interpretable association rules with a biomedical retrieval index.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F2A3D"/>
                </a:solidFill>
                <a:latin typeface="Calibri"/>
              </a:rPr>
              <a:t>  Every prediction in our system is auditable through both a mined rule and the retrieved passage.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0" y="1554480"/>
            <a:ext cx="4023360" cy="4572000"/>
          </a:xfrm>
          <a:prstGeom prst="roundRect">
            <a:avLst/>
          </a:prstGeom>
          <a:solidFill>
            <a:srgbClr val="F6F8FC"/>
          </a:solidFill>
          <a:ln w="1905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69164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D3B66"/>
                </a:solidFill>
                <a:latin typeface="Calibri"/>
              </a:rPr>
              <a:t>By the numbers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19456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F2A3D"/>
                </a:solidFill>
                <a:latin typeface="Calibri"/>
              </a:rPr>
              <a:t>  4,920 patient records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2A3D"/>
                </a:solidFill>
                <a:latin typeface="Calibri"/>
              </a:rPr>
              <a:t>  41 diseases, 131 symptom tokens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2A3D"/>
                </a:solidFill>
                <a:latin typeface="Calibri"/>
              </a:rPr>
              <a:t>  23,839 association rules mined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2A3D"/>
                </a:solidFill>
                <a:latin typeface="Calibri"/>
              </a:rPr>
              <a:t>  24,063 MedQuAD passages indexed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2A3D"/>
                </a:solidFill>
                <a:latin typeface="Calibri"/>
              </a:rPr>
              <a:t>  200 synthetic test cases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2A3D"/>
                </a:solidFill>
                <a:latin typeface="Calibri"/>
              </a:rPr>
              <a:t>  82.5% Recall@1, 0.857 MRR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CMPE 255 Spring 2026, Sakshat Patil, Vineet Kumar, Aishwarya Madhave, Slide 1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D3B66"/>
                </a:solidFill>
                <a:latin typeface="Calibri"/>
              </a:rPr>
              <a:t>2.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All six proposal steps wired together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691640"/>
            <a:ext cx="3749039" cy="2103120"/>
          </a:xfrm>
          <a:prstGeom prst="roundRect">
            <a:avLst/>
          </a:prstGeom>
          <a:solidFill>
            <a:srgbClr val="F6F8FC"/>
          </a:solidFill>
          <a:ln w="254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78308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B7280"/>
                </a:solidFill>
                <a:latin typeface="Calibri"/>
              </a:rPr>
              <a:t>Step 1. Data ETL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40280"/>
            <a:ext cx="3383279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1F2A3D"/>
                </a:solidFill>
                <a:latin typeface="Calibri"/>
              </a:rPr>
              <a:t>  Kaggle CSV to 4,920 transactions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F2A3D"/>
                </a:solidFill>
                <a:latin typeface="Calibri"/>
              </a:rPr>
              <a:t>  Synthea FHIR ETL (parallel path)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F2A3D"/>
                </a:solidFill>
                <a:latin typeface="Calibri"/>
              </a:rPr>
              <a:t>  131 unique symptom tokens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F2A3D"/>
                </a:solidFill>
                <a:latin typeface="Calibri"/>
              </a:rPr>
              <a:t>  Sakshat (owner)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1691640"/>
            <a:ext cx="3749039" cy="2103120"/>
          </a:xfrm>
          <a:prstGeom prst="roundRect">
            <a:avLst/>
          </a:prstGeom>
          <a:solidFill>
            <a:srgbClr val="F6F8FC"/>
          </a:solidFill>
          <a:ln w="254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0" y="178308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A86FF"/>
                </a:solidFill>
                <a:latin typeface="Calibri"/>
              </a:rPr>
              <a:t>Step 2. FP-Growth Mining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240280"/>
            <a:ext cx="3383279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1F2A3D"/>
                </a:solidFill>
                <a:latin typeface="Calibri"/>
              </a:rPr>
              <a:t>  mlxtend, min_support=0.005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F2A3D"/>
                </a:solidFill>
                <a:latin typeface="Calibri"/>
              </a:rPr>
              <a:t>  23,839 rules across 41 diseases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F2A3D"/>
                </a:solidFill>
                <a:latin typeface="Calibri"/>
              </a:rPr>
              <a:t>  MiningConf(Q,d) at query time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F2A3D"/>
                </a:solidFill>
                <a:latin typeface="Calibri"/>
              </a:rPr>
              <a:t>  Sakshat (owner)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691640"/>
            <a:ext cx="3749039" cy="2103120"/>
          </a:xfrm>
          <a:prstGeom prst="roundRect">
            <a:avLst/>
          </a:prstGeom>
          <a:solidFill>
            <a:srgbClr val="F6F8FC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78308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Calibri"/>
              </a:rPr>
              <a:t>Step 3. Knowledge 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240280"/>
            <a:ext cx="3383279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1F2A3D"/>
                </a:solidFill>
                <a:latin typeface="Calibri"/>
              </a:rPr>
              <a:t>  24,063 MedQuAD passages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F2A3D"/>
                </a:solidFill>
                <a:latin typeface="Calibri"/>
              </a:rPr>
              <a:t>  MiniLM 384d, PubMedBERT 768d, Azure 3072d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F2A3D"/>
                </a:solidFill>
                <a:latin typeface="Calibri"/>
              </a:rPr>
              <a:t>  FAISS local, Pinecone serverless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F2A3D"/>
                </a:solidFill>
                <a:latin typeface="Calibri"/>
              </a:rPr>
              <a:t>  Vineet (owner)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3931920"/>
            <a:ext cx="3749039" cy="2103120"/>
          </a:xfrm>
          <a:prstGeom prst="roundRect">
            <a:avLst/>
          </a:prstGeom>
          <a:solidFill>
            <a:srgbClr val="F6F8FC"/>
          </a:solidFill>
          <a:ln w="25400">
            <a:solidFill>
              <a:srgbClr val="EF47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402336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F476F"/>
                </a:solidFill>
                <a:latin typeface="Calibri"/>
              </a:rPr>
              <a:t>Step 4. RAG Pipeline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480560"/>
            <a:ext cx="3383279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1F2A3D"/>
                </a:solidFill>
                <a:latin typeface="Calibri"/>
              </a:rPr>
              <a:t>  Dense retrieval + synonym expansion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F2A3D"/>
                </a:solidFill>
                <a:latin typeface="Calibri"/>
              </a:rPr>
              <a:t>  Pinecone reranker: Cohere 3.5 or BGE-v2-m3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F2A3D"/>
                </a:solidFill>
                <a:latin typeface="Calibri"/>
              </a:rPr>
              <a:t>  Template + OpenAI structured explainers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F2A3D"/>
                </a:solidFill>
                <a:latin typeface="Calibri"/>
              </a:rPr>
              <a:t>  Vineet + Aishwarya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3931920"/>
            <a:ext cx="3749039" cy="2103120"/>
          </a:xfrm>
          <a:prstGeom prst="roundRect">
            <a:avLst/>
          </a:prstGeom>
          <a:solidFill>
            <a:srgbClr val="F6F8FC"/>
          </a:solidFill>
          <a:ln w="25400">
            <a:solidFill>
              <a:srgbClr val="F69B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06240" y="402336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69B2C"/>
                </a:solidFill>
                <a:latin typeface="Calibri"/>
              </a:rPr>
              <a:t>Step 5. Hybrid Fusion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4480560"/>
            <a:ext cx="3383279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1F2A3D"/>
                </a:solidFill>
                <a:latin typeface="Calibri"/>
              </a:rPr>
              <a:t>  a*RetrievalSim + (1-a)*MiningConf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F2A3D"/>
                </a:solidFill>
                <a:latin typeface="Calibri"/>
              </a:rPr>
              <a:t>  a = 0.3 (sweep-validated)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F2A3D"/>
                </a:solidFill>
                <a:latin typeface="Calibri"/>
              </a:rPr>
              <a:t>  Pooled candidate set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F2A3D"/>
                </a:solidFill>
                <a:latin typeface="Calibri"/>
              </a:rPr>
              <a:t>  Aishwarya (owner)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3931920"/>
            <a:ext cx="3749039" cy="2103120"/>
          </a:xfrm>
          <a:prstGeom prst="roundRect">
            <a:avLst/>
          </a:prstGeom>
          <a:solidFill>
            <a:srgbClr val="F6F8FC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402336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3AED"/>
                </a:solidFill>
                <a:latin typeface="Calibri"/>
              </a:rPr>
              <a:t>Step 6. Evaluation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480560"/>
            <a:ext cx="3383279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1F2A3D"/>
                </a:solidFill>
                <a:latin typeface="Calibri"/>
              </a:rPr>
              <a:t>  Recall@K, MRR (200 cases)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F2A3D"/>
                </a:solidFill>
                <a:latin typeface="Calibri"/>
              </a:rPr>
              <a:t>  alpha sweep + per-stage latency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F2A3D"/>
                </a:solidFill>
                <a:latin typeface="Calibri"/>
              </a:rPr>
              <a:t>  155 pytest tests (147 unit, 8 live)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F2A3D"/>
                </a:solidFill>
                <a:latin typeface="Calibri"/>
              </a:rPr>
              <a:t>  Aishwarya (owner)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3B66"/>
                </a:solidFill>
                <a:latin typeface="Calibri"/>
              </a:rPr>
              <a:t>Three-tier deployment: Next.js 14 web, FastAPI AI service (MPS), data tier (FAISS local or Pinecone managed)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92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Production demo: Azure OpenAI 3072d to Pinecone (255-data-mining, 24,063 vectors), fused mining + retrieval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922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CMPE 255 Spring 2026, Sakshat Patil, Vineet Kumar, Aishwarya Madhave, Slide 2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D3B66"/>
                </a:solidFill>
                <a:latin typeface="Calibri"/>
              </a:rPr>
              <a:t>3. Data and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Two complementary data sources, one fusion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D3B66"/>
                </a:solidFill>
                <a:latin typeface="Calibri"/>
              </a:rPr>
              <a:t>Disease-Symptom transactions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F2A3D"/>
                </a:solidFill>
                <a:latin typeface="Calibri"/>
              </a:rPr>
              <a:t>  4,920 rows, 41 diseases (Kaggle-style schema)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F2A3D"/>
                </a:solidFill>
                <a:latin typeface="Calibri"/>
              </a:rPr>
              <a:t>  Up to 17 symptoms per row, 131 unique tokens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F2A3D"/>
                </a:solidFill>
                <a:latin typeface="Calibri"/>
              </a:rPr>
              <a:t>  ETL: lowercase + snake_case normalisation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F2A3D"/>
                </a:solidFill>
                <a:latin typeface="Calibri"/>
              </a:rPr>
              <a:t>  FP-Growth basket = symptoms + DX:disease item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D3B66"/>
                </a:solidFill>
                <a:latin typeface="Calibri"/>
              </a:rPr>
              <a:t>MedQuAD biomedical Q&amp;A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48056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F2A3D"/>
                </a:solidFill>
                <a:latin typeface="Calibri"/>
              </a:rPr>
              <a:t>  24,063 passages from 11k NIH XML files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F2A3D"/>
                </a:solidFill>
                <a:latin typeface="Calibri"/>
              </a:rPr>
              <a:t>  1000-char chunks with 200-char overlap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F2A3D"/>
                </a:solidFill>
                <a:latin typeface="Calibri"/>
              </a:rPr>
              <a:t>  Embedded with MiniLM and PubMedBERT (MPS)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F2A3D"/>
                </a:solidFill>
                <a:latin typeface="Calibri"/>
              </a:rPr>
              <a:t>  Indexed with FAISS IndexFlatIP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D3B66"/>
                </a:solidFill>
                <a:latin typeface="Calibri"/>
              </a:rPr>
              <a:t>Mining-time scoring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A3D"/>
                </a:solidFill>
                <a:latin typeface="Cambria Math"/>
              </a:rPr>
              <a:t>MiningConf(Q,d) = max  c(A to d) * |A intersect Q| / |A|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        over rules A to d with A subset of 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08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D3B66"/>
                </a:solidFill>
                <a:latin typeface="Calibri"/>
              </a:rPr>
              <a:t>Synonym bridge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47472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F2A3D"/>
                </a:solidFill>
                <a:latin typeface="Calibri"/>
              </a:rPr>
              <a:t>  muscle_pain  to  myalgia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F2A3D"/>
                </a:solidFill>
                <a:latin typeface="Calibri"/>
              </a:rPr>
              <a:t>  high_fever  to  pyrexia, hyperthermia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F2A3D"/>
                </a:solidFill>
                <a:latin typeface="Calibri"/>
              </a:rPr>
              <a:t>  breathlessness  to  dyspnea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F2A3D"/>
                </a:solidFill>
                <a:latin typeface="Calibri"/>
              </a:rPr>
              <a:t>  yellowish_skin  to  jaundice, icterus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F2A3D"/>
                </a:solidFill>
                <a:latin typeface="Calibri"/>
              </a:rPr>
              <a:t>  fast_heart_rate  to  tachycardia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486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130 entries; covers all 41 disease classes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CMPE 255 Spring 2026, Sakshat Patil, Vineet Kumar, Aishwarya Madhave, Slide 3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D3B66"/>
                </a:solidFill>
                <a:latin typeface="Calibri"/>
              </a:rPr>
              <a:t>4. Results: 200 synthetic test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Fusion beats both signals; a=0.3 is the sweet spot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554480"/>
          <a:ext cx="57607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280160"/>
                <a:gridCol w="822960"/>
                <a:gridCol w="822960"/>
                <a:gridCol w="822960"/>
              </a:tblGrid>
              <a:tr h="4267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Variant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Mode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R@1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R@10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MRR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D"/>
                          </a:solidFill>
                          <a:latin typeface="Calibri"/>
                        </a:rPr>
                        <a:t>mining-only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D"/>
                          </a:solidFill>
                          <a:latin typeface="Calibri"/>
                        </a:rPr>
                        <a:t>a=0.0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D"/>
                          </a:solidFill>
                          <a:latin typeface="Calibri"/>
                        </a:rPr>
                        <a:t>0.790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D"/>
                          </a:solidFill>
                          <a:latin typeface="Calibri"/>
                        </a:rPr>
                        <a:t>0.870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D"/>
                          </a:solidFill>
                          <a:latin typeface="Calibri"/>
                        </a:rPr>
                        <a:t>0.829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D"/>
                          </a:solidFill>
                          <a:latin typeface="Calibri"/>
                        </a:rPr>
                        <a:t>MiniLM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D"/>
                          </a:solidFill>
                          <a:latin typeface="Calibri"/>
                        </a:rPr>
                        <a:t>retrieval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D"/>
                          </a:solidFill>
                          <a:latin typeface="Calibri"/>
                        </a:rPr>
                        <a:t>0.130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D"/>
                          </a:solidFill>
                          <a:latin typeface="Calibri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D"/>
                          </a:solidFill>
                          <a:latin typeface="Calibri"/>
                        </a:rPr>
                        <a:t>0.151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D"/>
                          </a:solidFill>
                          <a:latin typeface="Calibri"/>
                        </a:rPr>
                        <a:t>MiniLM+syn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D"/>
                          </a:solidFill>
                          <a:latin typeface="Calibri"/>
                        </a:rPr>
                        <a:t>fused 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D"/>
                          </a:solidFill>
                          <a:latin typeface="Calibri"/>
                        </a:rPr>
                        <a:t>0.820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D"/>
                          </a:solidFill>
                          <a:latin typeface="Calibri"/>
                        </a:rPr>
                        <a:t>0.895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D"/>
                          </a:solidFill>
                          <a:latin typeface="Calibri"/>
                        </a:rPr>
                        <a:t>0.857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D"/>
                          </a:solidFill>
                          <a:latin typeface="Calibri"/>
                        </a:rPr>
                        <a:t>PubMedBERT+syn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D"/>
                          </a:solidFill>
                          <a:latin typeface="Calibri"/>
                        </a:rPr>
                        <a:t>retrieval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D"/>
                          </a:solidFill>
                          <a:latin typeface="Calibri"/>
                        </a:rPr>
                        <a:t>0.130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D"/>
                          </a:solidFill>
                          <a:latin typeface="Calibri"/>
                        </a:rPr>
                        <a:t>0.265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D"/>
                          </a:solidFill>
                          <a:latin typeface="Calibri"/>
                        </a:rPr>
                        <a:t>0.194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D"/>
                          </a:solidFill>
                          <a:latin typeface="Calibri"/>
                        </a:rPr>
                        <a:t>MiniLM (best)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D"/>
                          </a:solidFill>
                          <a:latin typeface="Calibri"/>
                        </a:rPr>
                        <a:t>fused 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D"/>
                          </a:solidFill>
                          <a:latin typeface="Calibri"/>
                        </a:rPr>
                        <a:t>0.825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D"/>
                          </a:solidFill>
                          <a:latin typeface="Calibri"/>
                        </a:rPr>
                        <a:t>0.890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D"/>
                          </a:solidFill>
                          <a:latin typeface="Calibri"/>
                        </a:rPr>
                        <a:t>0.857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D3B66"/>
                </a:solidFill>
                <a:latin typeface="Calibri"/>
              </a:rPr>
              <a:t>Best fused: MiniLM with synonym expansion, a=0.3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617720"/>
            <a:ext cx="5943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F2A3D"/>
                </a:solidFill>
                <a:latin typeface="Calibri"/>
              </a:rPr>
              <a:t>  +3.5 R@1 over mining alone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F2A3D"/>
                </a:solidFill>
                <a:latin typeface="Calibri"/>
              </a:rPr>
              <a:t>  Retrieval-only collapses (vocab gap); +syn helps but ceiling stays low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F2A3D"/>
                </a:solidFill>
                <a:latin typeface="Calibri"/>
              </a:rPr>
              <a:t>  Signals are complementary, not redundant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852160"/>
            <a:ext cx="5943600" cy="640080"/>
          </a:xfrm>
          <a:prstGeom prst="roundRect">
            <a:avLst/>
          </a:prstGeom>
          <a:solidFill>
            <a:srgbClr val="ECFEFF"/>
          </a:solidFill>
          <a:ln w="1524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7490"/>
                </a:solidFill>
                <a:latin typeface="Calibri"/>
              </a:rPr>
              <a:t>Latency: 12 ms mean, 20 ms p95 (default config, 100 queries on M3 Pro)</a:t>
            </a:r>
          </a:p>
        </p:txBody>
      </p:sp>
      <p:pic>
        <p:nvPicPr>
          <p:cNvPr id="10" name="Picture 9" descr="alpha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554480"/>
            <a:ext cx="5120640" cy="30723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66560" y="5852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Alpha sweep peaks on [0.1, 0.4]. Recall@1 collapses for a &gt;= 0.7.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CMPE 255 Spring 2026, Sakshat Patil, Vineet Kumar, Aishwarya Madhave, Slide 4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D3B66"/>
                </a:solidFill>
                <a:latin typeface="Calibri"/>
              </a:rPr>
              <a:t>5. Live Demo: Next.js Clinical 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Grounded evidence the proposal asked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F2A3D"/>
                </a:solidFill>
                <a:latin typeface="Calibri"/>
              </a:rPr>
              <a:t>  Next.js 14 web app talks to FastAPI inference service over REST.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F2A3D"/>
                </a:solidFill>
                <a:latin typeface="Calibri"/>
              </a:rPr>
              <a:t>  Symptom picker with autocomplete and 6 clinical presets.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F2A3D"/>
                </a:solidFill>
                <a:latin typeface="Calibri"/>
              </a:rPr>
              <a:t>  Per-diagnosis card has 4 sections: symptom-disease link, statistical prior, evidence quality, what is missing.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F2A3D"/>
                </a:solidFill>
                <a:latin typeface="Calibri"/>
              </a:rPr>
              <a:t>  Evidence cards show the highlighted sentence (yellow) that actually mentions the symptom or disease.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F2A3D"/>
                </a:solidFill>
                <a:latin typeface="Calibri"/>
              </a:rPr>
              <a:t>  Source authority badges (NIH NHLBI = tier 1, etc.) and passage-type chips (symptoms, diagnosis, treatment).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F2A3D"/>
                </a:solidFill>
                <a:latin typeface="Calibri"/>
              </a:rPr>
              <a:t>  Live alpha slider, mode and backend toggles, source and passage-type filters.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F2A3D"/>
                </a:solidFill>
                <a:latin typeface="Calibri"/>
              </a:rPr>
              <a:t>  OpenAI explainer toggle (optional, with template fallback).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F2A3D"/>
                </a:solidFill>
                <a:latin typeface="Calibri"/>
              </a:rPr>
              <a:t>  Latency strip after every query: total + per-stage breakdown.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554480"/>
            <a:ext cx="4937760" cy="4572000"/>
          </a:xfrm>
          <a:prstGeom prst="round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0" y="1691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Calibri"/>
              </a:rPr>
              <a:t>Demo 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210312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E2E8F0"/>
                </a:solidFill>
                <a:latin typeface="Calibri"/>
              </a:rPr>
              <a:t>  1. Pick the Cardiac event preset.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2E8F0"/>
                </a:solidFill>
                <a:latin typeface="Calibri"/>
              </a:rPr>
              <a:t>  2. heart_attack ranks first (mining 1.00, fused 0.83).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2E8F0"/>
                </a:solidFill>
                <a:latin typeface="Calibri"/>
              </a:rPr>
              <a:t>  3. Read the clinical card: link, prior, evidence, what is missing.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2E8F0"/>
                </a:solidFill>
                <a:latin typeface="Calibri"/>
              </a:rPr>
              <a:t>  4. Inspect highlighted MedQuAD sentence with NIH NHLBI badge.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2E8F0"/>
                </a:solidFill>
                <a:latin typeface="Calibri"/>
              </a:rPr>
              <a:t>  5. Filter to source = MedlinePlus to see only those passages.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2E8F0"/>
                </a:solidFill>
                <a:latin typeface="Calibri"/>
              </a:rPr>
              <a:t>  6. Toggle to OpenAI explainer for richer prose, same citations.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2E8F0"/>
                </a:solidFill>
                <a:latin typeface="Calibri"/>
              </a:rPr>
              <a:t>  7. Drag the alpha slider; rankings re-fuse live.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CMPE 255 Spring 2026, Sakshat Patil, Vineet Kumar, Aishwarya Madhave, Slide 5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D3B66"/>
                </a:solidFill>
                <a:latin typeface="Calibri"/>
              </a:rPr>
              <a:t>6. Platform Screenshots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Real captures from the running web client</a:t>
            </a:r>
          </a:p>
        </p:txBody>
      </p:sp>
      <p:pic>
        <p:nvPicPr>
          <p:cNvPr id="5" name="Picture 4" descr="02-results-cardi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669546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D3B66"/>
                </a:solidFill>
                <a:latin typeface="Calibri"/>
              </a:rPr>
              <a:t>Results view, Cardiac event preset.</a:t>
            </a:r>
          </a:p>
        </p:txBody>
      </p:sp>
      <p:pic>
        <p:nvPicPr>
          <p:cNvPr id="7" name="Picture 6" descr="13-stage-fu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554480"/>
            <a:ext cx="3323900" cy="4846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D3B66"/>
                </a:solidFill>
                <a:latin typeface="Calibri"/>
              </a:rPr>
              <a:t>Hybrid fusion stage of the pipeline timeline expanded.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CMPE 255 Spring 2026, Sakshat Patil, Vineet Kumar, Aishwarya Madhave, Slide 6 of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D3B66"/>
                </a:solidFill>
                <a:latin typeface="Calibri"/>
              </a:rPr>
              <a:t>7. Conclusion and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What we shipped, what is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D3B66"/>
                </a:solidFill>
                <a:latin typeface="Calibri"/>
              </a:rPr>
              <a:t>Shipped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F2A3D"/>
                </a:solidFill>
                <a:latin typeface="Calibri"/>
              </a:rPr>
              <a:t>  Reproducible FP-Growth pipeline (23,839 rules, 100% disease coverage)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F2A3D"/>
                </a:solidFill>
                <a:latin typeface="Calibri"/>
              </a:rPr>
              <a:t>  Three encoders: MiniLM 384d, PubMedBERT 768d, Azure OpenAI 3072d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F2A3D"/>
                </a:solidFill>
                <a:latin typeface="Calibri"/>
              </a:rPr>
              <a:t>  Pinecone Serverless production index (255-data-mining, 24,063 vectors)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F2A3D"/>
                </a:solidFill>
                <a:latin typeface="Calibri"/>
              </a:rPr>
              <a:t>  Claim-level evidence with NIH source-tier badges + specificity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F2A3D"/>
                </a:solidFill>
                <a:latin typeface="Calibri"/>
              </a:rPr>
              <a:t>  Pinecone Cohere/BGE reranker with auto-fallback (free tier safe)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F2A3D"/>
                </a:solidFill>
                <a:latin typeface="Calibri"/>
              </a:rPr>
              <a:t>  Clinical-structured explainer: deterministic template + OpenAI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F2A3D"/>
                </a:solidFill>
                <a:latin typeface="Calibri"/>
              </a:rPr>
              <a:t>  Next.js 14 UI + FastAPI microservice + Python data tier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F2A3D"/>
                </a:solidFill>
                <a:latin typeface="Calibri"/>
              </a:rPr>
              <a:t>  82.5% R@1, 0.857 MRR. Heart Attack fused 0.831 on Azure path.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F2A3D"/>
                </a:solidFill>
                <a:latin typeface="Calibri"/>
              </a:rPr>
              <a:t>  155 pytest tests passing (147 unit, 8 live integration)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D3B66"/>
                </a:solidFill>
                <a:latin typeface="Calibri"/>
              </a:rPr>
              <a:t>Future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F2A3D"/>
                </a:solidFill>
                <a:latin typeface="Calibri"/>
              </a:rPr>
              <a:t>  UMLS-backed automatic synonym mining (replace curated dict)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F2A3D"/>
                </a:solidFill>
                <a:latin typeface="Calibri"/>
              </a:rPr>
              <a:t>  Cross-encoder reranker over &lt;disease, passage&gt; pairs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F2A3D"/>
                </a:solidFill>
                <a:latin typeface="Calibri"/>
              </a:rPr>
              <a:t>  Evaluate on Synthea FHIR pipeline (held-out vocabulary)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F2A3D"/>
                </a:solidFill>
                <a:latin typeface="Calibri"/>
              </a:rPr>
              <a:t>  Open-domain disease universe via UMLS canonicalisation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F2A3D"/>
                </a:solidFill>
                <a:latin typeface="Calibri"/>
              </a:rPr>
              <a:t>  Learned fusion (XGBoost) using rule lift, passage source, overlap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3B66"/>
                </a:solidFill>
                <a:latin typeface="Calibri"/>
              </a:rPr>
              <a:t>Sakshat Patil, Vineet Kumar, Aishwarya Madhave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Code: github.com/sakshat-patil/Symptom-Based-Disease-Identification-via-RAG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922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CMPE 255 Spring 2026, Sakshat Patil, Vineet Kumar, Aishwarya Madhave, Slide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