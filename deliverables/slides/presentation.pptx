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40"/>
            <a:ext cx="12191695" cy="3657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A86FF"/>
                </a:solidFill>
                <a:latin typeface="Calibri"/>
              </a:rPr>
              <a:t>CMPE 255 DATA MINING  |  SPRING 2026  | 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Record-Based Medical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Diagnostic 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CBD5E1"/>
                </a:solidFill>
                <a:latin typeface="Calibri"/>
              </a:rPr>
              <a:t>FP-Growth association rules + biomedical RAG, fused.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Sakshat Nandkumar Patil   ·   Vineet Kumar   ·   Aishwarya Madhave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Department of Computer Engineering, San Jose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73152" cy="5029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SLIDE 01  /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A2A4F"/>
                </a:solidFill>
                <a:latin typeface="Calibri"/>
              </a:rPr>
              <a:t>Why diagnostic decision support is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Two failure modes in deployed clinical-AI tools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763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53035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91440" cy="178308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5739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F476F"/>
                </a:solidFill>
                <a:latin typeface="Calibri"/>
              </a:rPr>
              <a:t>Hand-built ontologies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79"/>
            <a:ext cx="4937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2333"/>
                </a:solidFill>
                <a:latin typeface="Calibri"/>
              </a:rPr>
              <a:t>Expensive to maintain, brittle to new vocabulary, and they lock you into one domain expert's mental model. Updates lag the literature by years.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039"/>
            <a:ext cx="53035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91440" cy="1783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3191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Calibri"/>
              </a:rPr>
              <a:t>Black-box LLMs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399"/>
            <a:ext cx="4937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2333"/>
                </a:solidFill>
                <a:latin typeface="Calibri"/>
              </a:rPr>
              <a:t>Confident-sounding outputs without citations. Hallucination is silent. A clinician cannot defend the answer to a peer or to a patient.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74519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0A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74519"/>
            <a:ext cx="91440" cy="365760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3A86FF"/>
                </a:solidFill>
                <a:latin typeface="Calibri"/>
              </a:rP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31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Auditable by construction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880360"/>
            <a:ext cx="50292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CBD5E1"/>
                </a:solidFill>
                <a:latin typeface="Calibri"/>
              </a:rPr>
              <a:t>Every prediction is grounded in two complementary signals:
(1) an FP-Growth rule mined from real patient records, and
(2) a biomedical passage retrieved from MedQuAD.
The clinician sees both. The clinician decides.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69280"/>
            <a:ext cx="11338560" cy="594360"/>
          </a:xfrm>
          <a:prstGeom prst="roundRect">
            <a:avLst>
              <a:gd name="adj" fmla="val 8000"/>
            </a:avLst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A2A4F"/>
                </a:solidFill>
                <a:latin typeface="Calibri"/>
              </a:rPr>
              <a:t>Scope: 41 disease classes  ·  131 symptom tokens  ·  4,920 patient transactions  ·  24,063 indexed passages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47395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CMPE 255 Spring 2026  |  Patil, Kumar, Madhave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5288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73152" cy="5029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SLIDE 02  /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A2A4F"/>
                </a:solidFill>
                <a:latin typeface="Calibri"/>
              </a:rPr>
              <a:t>System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Three-tier stack covering all six proposal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763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E5ECF5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WEB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2333"/>
                </a:solidFill>
                <a:latin typeface="Calibri"/>
              </a:rPr>
              <a:t>Next.js 14  ·  Symptom picker  ·  Live alpha slider  ·  Pipeline timeline  ·  Insights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67004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07792"/>
            <a:ext cx="113385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FASTAPI MICROSERVICE  (Python 3.11, MPS-aware)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375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54864" cy="7315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01568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6B7280"/>
                </a:solidFill>
                <a:latin typeface="Calibri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11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A2333"/>
                </a:solidFill>
                <a:latin typeface="Calibri"/>
              </a:rPr>
              <a:t>Data ETL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404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Sakshat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9463" y="33375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9463" y="3337560"/>
            <a:ext cx="54864" cy="7315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6623" y="3401568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3A86FF"/>
                </a:solidFill>
                <a:latin typeface="Calibri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3" y="3611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A2333"/>
                </a:solidFill>
                <a:latin typeface="Calibri"/>
              </a:rPr>
              <a:t>FP-Growth Mining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3" y="38404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Sakshat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33375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98848" y="3337560"/>
            <a:ext cx="54864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3401568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10B981"/>
                </a:solidFill>
                <a:latin typeface="Calibri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3611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A2333"/>
                </a:solidFill>
                <a:latin typeface="Calibri"/>
              </a:rPr>
              <a:t>Knowledge 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8" y="38404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Vineet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28232" y="33375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8232" y="3337560"/>
            <a:ext cx="54864" cy="73152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392" y="3401568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EF476F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3611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A2333"/>
                </a:solidFill>
                <a:latin typeface="Calibri"/>
              </a:rPr>
              <a:t>RAG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38404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Vineet, Aishwarya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57615" y="33375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57615" y="3337560"/>
            <a:ext cx="54864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94775" y="3401568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F59E0B"/>
                </a:solidFill>
                <a:latin typeface="Calibri"/>
              </a:rPr>
              <a:t>STEP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94775" y="3611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A2333"/>
                </a:solidFill>
                <a:latin typeface="Calibri"/>
              </a:rPr>
              <a:t>Hybrid Fusion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4775" y="38404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Aishwarya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86999" y="33375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86999" y="3337560"/>
            <a:ext cx="54864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9" y="3401568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7C3AED"/>
                </a:solidFill>
                <a:latin typeface="Calibri"/>
              </a:rPr>
              <a:t>STEP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59" y="3611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A2333"/>
                </a:solidFill>
                <a:latin typeface="Calibri"/>
              </a:rPr>
              <a:t>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59" y="38404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Aishwarya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114800"/>
            <a:ext cx="10972800" cy="594360"/>
          </a:xfrm>
          <a:prstGeom prst="roundRect">
            <a:avLst>
              <a:gd name="adj" fmla="val 8000"/>
            </a:avLst>
          </a:prstGeom>
          <a:solidFill>
            <a:srgbClr val="0A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4206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 Math"/>
              </a:rPr>
              <a:t>FusedScore(d) = a · RetrievalSim(d) + (1 - a) · MiningConf(d)        Default a = 0.3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4901184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▼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138928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E5EC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0B981"/>
                </a:solidFill>
                <a:latin typeface="Calibri"/>
              </a:rPr>
              <a:t>DATA TIER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504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2333"/>
                </a:solidFill>
                <a:latin typeface="Calibri"/>
              </a:rPr>
              <a:t>23,839 rules  ·  24,063 passages  ·  FAISS (offline) or Pinecone Serverless 3072d (production)  ·  Azure OpenAI embeddings + GPT-5.3 explainer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7395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CMPE 255 Spring 2026  |  Patil, Kumar, Madhave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65288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73152" cy="5029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SLIDE 03  /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A2A4F"/>
                </a:solidFill>
                <a:latin typeface="Calibri"/>
              </a:rPr>
              <a:t>Headline metrics, 200 synthetic test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Fusion beats mining alone. Retrieval alone is unusable.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763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2697480" cy="9144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39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RECALL @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19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0A2A4F"/>
                </a:solidFill>
                <a:latin typeface="Calibri"/>
              </a:rPr>
              <a:t>0.825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035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fused, MiniLM, a = 0.3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874519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874519"/>
            <a:ext cx="26974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05739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0B981"/>
                </a:solidFill>
                <a:latin typeface="Calibri"/>
              </a:rPr>
              <a:t>RECALL @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331719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0A2A4F"/>
                </a:solidFill>
                <a:latin typeface="Calibri"/>
              </a:rPr>
              <a:t>0.890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88035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+2.0 over mining-only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74519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874519"/>
            <a:ext cx="26974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05739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  <a:latin typeface="Calibri"/>
              </a:rPr>
              <a:t>MRR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331719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0A2A4F"/>
                </a:solidFill>
                <a:latin typeface="Calibri"/>
              </a:rPr>
              <a:t>0.857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8035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+2.8 over mining-only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874519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874519"/>
            <a:ext cx="269748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05739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7C3AED"/>
                </a:solidFill>
                <a:latin typeface="Calibri"/>
              </a:rPr>
              <a:t>LATENCY p95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331719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0A2A4F"/>
                </a:solidFill>
                <a:latin typeface="Calibri"/>
              </a:rPr>
              <a:t>20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88035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M3 Pro, default config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3520440"/>
          <a:ext cx="6309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914400"/>
                <a:gridCol w="100584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>
                    <a:solidFill>
                      <a:srgbClr val="0A2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0A2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>
                    <a:solidFill>
                      <a:srgbClr val="0A2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R@10</a:t>
                      </a:r>
                    </a:p>
                  </a:txBody>
                  <a:tcPr>
                    <a:solidFill>
                      <a:srgbClr val="0A2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>
                    <a:solidFill>
                      <a:srgbClr val="0A2A4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mining-only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a = 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0.829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MiniLM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0.151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A2A4F"/>
                          </a:solidFill>
                          <a:latin typeface="Calibri"/>
                        </a:rPr>
                        <a:t>MiniLM</a:t>
                      </a:r>
                    </a:p>
                  </a:txBody>
                  <a:tcP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2A4F"/>
                          </a:solidFill>
                          <a:latin typeface="Calibri"/>
                        </a:rPr>
                        <a:t>fused 0.3</a:t>
                      </a:r>
                    </a:p>
                  </a:txBody>
                  <a:tcP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2A4F"/>
                          </a:solidFill>
                          <a:latin typeface="Calibri"/>
                        </a:rPr>
                        <a:t>0.825</a:t>
                      </a:r>
                    </a:p>
                  </a:txBody>
                  <a:tcP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2A4F"/>
                          </a:solidFill>
                          <a:latin typeface="Calibri"/>
                        </a:rPr>
                        <a:t>0.890</a:t>
                      </a:r>
                    </a:p>
                  </a:txBody>
                  <a:tcPr>
                    <a:solidFill>
                      <a:srgbClr val="E5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A2A4F"/>
                          </a:solidFill>
                          <a:latin typeface="Calibri"/>
                        </a:rPr>
                        <a:t>0.857</a:t>
                      </a:r>
                    </a:p>
                  </a:txBody>
                  <a:tcPr>
                    <a:solidFill>
                      <a:srgbClr val="E5EC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MiniLM + syn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fused 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0.857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PubMedBERT + syn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fused 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2333"/>
                          </a:solidFill>
                          <a:latin typeface="Calibri"/>
                        </a:rPr>
                        <a:t>0.843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8" name="Picture 27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3520440"/>
            <a:ext cx="4526280" cy="27157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69480" y="5760720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Alpha sweep: plateau on [0.1, 0.4]; collapse for a &gt;= 0.7.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80760"/>
            <a:ext cx="11338560" cy="457200"/>
          </a:xfrm>
          <a:prstGeom prst="roundRect">
            <a:avLst>
              <a:gd name="adj" fmla="val 8000"/>
            </a:avLst>
          </a:prstGeom>
          <a:solidFill>
            <a:srgbClr val="0A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1356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Takeaway: fusion lifts R@1 by +3.5 over the strong mining-only baseline. The signals are complementary.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7395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CMPE 255 Spring 2026  |  Patil, Kumar, Madhave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5288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73152" cy="5029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SLIDE 04  / 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A2A4F"/>
                </a:solidFill>
                <a:latin typeface="Calibri"/>
              </a:rPr>
              <a:t>Cardiac-event preset, end-to-end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Switch to the browser; if it fails, the screenshot is the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763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-results-cardi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143328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Production demo: Azure OpenAI 3072d + Pinecone + GPT-5.3 explainer.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874519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0A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99339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DEMO SCRIPT  (~5 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Cardiac event walkthrough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743200"/>
            <a:ext cx="402336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1.  </a:t>
            </a:r>
            <a:r>
              <a:rPr sz="1200">
                <a:solidFill>
                  <a:srgbClr val="CBD5E1"/>
                </a:solidFill>
              </a:rPr>
              <a:t>Click the Cardiac event preset.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2.  </a:t>
            </a:r>
            <a:r>
              <a:rPr sz="1200">
                <a:solidFill>
                  <a:srgbClr val="CBD5E1"/>
                </a:solidFill>
              </a:rPr>
              <a:t>Heart Attack ranks #1 (fused 0.831).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3.  </a:t>
            </a:r>
            <a:r>
              <a:rPr sz="1200">
                <a:solidFill>
                  <a:srgbClr val="CBD5E1"/>
                </a:solidFill>
              </a:rPr>
              <a:t>Read the 4-section clinical card.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4.  </a:t>
            </a:r>
            <a:r>
              <a:rPr sz="1200">
                <a:solidFill>
                  <a:srgbClr val="CBD5E1"/>
                </a:solidFill>
              </a:rPr>
              <a:t>Click a chip for symptom gloss + synonyms.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5.  </a:t>
            </a:r>
            <a:r>
              <a:rPr sz="1200">
                <a:solidFill>
                  <a:srgbClr val="CBD5E1"/>
                </a:solidFill>
              </a:rPr>
              <a:t>Drag the alpha slider, rankings re-fuse.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6.  </a:t>
            </a:r>
            <a:r>
              <a:rPr sz="1200">
                <a:solidFill>
                  <a:srgbClr val="CBD5E1"/>
                </a:solidFill>
              </a:rPr>
              <a:t>Filter to MedlinePlus only.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7.  </a:t>
            </a:r>
            <a:r>
              <a:rPr sz="1200">
                <a:solidFill>
                  <a:srgbClr val="CBD5E1"/>
                </a:solidFill>
              </a:rPr>
              <a:t>Toggle to OpenAI explainer.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A86FF"/>
                </a:solidFill>
              </a:rPr>
              <a:t>8.  </a:t>
            </a:r>
            <a:r>
              <a:rPr sz="1200">
                <a:solidFill>
                  <a:srgbClr val="CBD5E1"/>
                </a:solidFill>
              </a:rPr>
              <a:t>Open Insights tab for live latency.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CMPE 255 Spring 2026  |  Patil, Kumar, Madhave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5288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73152" cy="5029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SLIDE 05  / 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A2A4F"/>
                </a:solidFill>
                <a:latin typeface="Calibri"/>
              </a:rPr>
              <a:t>What didn't work, and what we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Three real bugs caught during development, all regression-tested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2763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874519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3657600" cy="59436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#1  min_support = 0.01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51759"/>
            <a:ext cx="320040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2333"/>
                </a:solidFill>
                <a:latin typeface="Calibri"/>
              </a:rPr>
              <a:t>Check-in 3 used 0.01. 21 of 41 diseases had no rules, so fusion was useless for those classes.
Fix: dropped to 0.005. 100% disease coverage. The overlap weighting in MiningScorer.score neutralises the noisier rule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874519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874519"/>
            <a:ext cx="3657600" cy="594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99339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#2  Passage-text attribution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51759"/>
            <a:ext cx="320040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2333"/>
                </a:solidFill>
                <a:latin typeface="Calibri"/>
              </a:rPr>
              <a:t>We matched a passage to a disease using its question AND answer body. Every "What is Chest Pain?" article got attributed to every cardiopulmonary disease.
Fix: focus first, question second, never the answer body.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74519"/>
            <a:ext cx="36576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9339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#3  hav matched have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651759"/>
            <a:ext cx="320040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A2333"/>
                </a:solidFill>
                <a:latin typeface="Calibri"/>
              </a:rPr>
              <a:t>Disease keyword index had "hav" (Hepatitis A virus). Substring matching pulled it out of the word "have", which is in basically every passage.
Fix: word-boundary regex for single-token keywords. Multi-word phrases stay substring. Regression test in test_disease_keywords.py.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172200"/>
            <a:ext cx="11338560" cy="365760"/>
          </a:xfrm>
          <a:prstGeom prst="roundRect">
            <a:avLst>
              <a:gd name="adj" fmla="val 8000"/>
            </a:avLst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Also tried and dropped: always-on cross-encoder (+100 ms for marginal gain), Cohere reranker by default (403 on free Pinecone tier).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CMPE 255 Spring 2026  |  Patil, Kumar, Madhave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5288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73152" cy="502920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3A86FF"/>
                </a:solidFill>
                <a:latin typeface="Calibri"/>
              </a:rPr>
              <a:t>SLIDE 06  / 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A2A4F"/>
                </a:solidFill>
                <a:latin typeface="Calibri"/>
              </a:rPr>
              <a:t>What we shipped, and where it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2763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10B981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Reproducible FP-Growth pipeline, 23,839 rules, 100% disease coverage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10B981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Three encoder backends: MiniLM 384d, PubMedBERT 768d, Azure 3072d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10B981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Pinecone Serverless production index (24,063 vectors, 3072d)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10B981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Claim-level evidence cards with NIH source-tier badges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10B981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Dual explainer: deterministic template + structured OpenAI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10B981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155 pytest tests passing (147 unit, 8 live integration)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10B981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82.5% R@1, 0.857 MRR. 12 ms p50 end-to-end on the offline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4028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F59E0B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UMLS-backed automatic synonym mining (replace curated dict)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F59E0B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Cross-encoder over &lt;disease, passage&gt; pairs in the default path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F59E0B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Held-out vocabulary eval on the Synthea FHIR pipeline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F59E0B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Open-domain disease universe via UMLS canonicalisation</a:t>
            </a:r>
          </a:p>
          <a:p>
            <a:pPr>
              <a:spcAft>
                <a:spcPts val="700"/>
              </a:spcAft>
            </a:pPr>
            <a:r>
              <a:rPr sz="1200"/>
              <a:t>  </a:t>
            </a:r>
            <a:r>
              <a:rPr sz="1000">
                <a:solidFill>
                  <a:srgbClr val="F59E0B"/>
                </a:solidFill>
              </a:rPr>
              <a:t>■  </a:t>
            </a:r>
            <a:r>
              <a:rPr sz="1200">
                <a:solidFill>
                  <a:srgbClr val="1A2333"/>
                </a:solidFill>
                <a:latin typeface="Calibri"/>
              </a:rPr>
              <a:t>Learned fusion (XGBoost) using rule lift, source tier, overlap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76072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0A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87044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26364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github.com/sakshat-patil/Symptom-Based-Disease-Identification-via-RAG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338560" cy="13716"/>
          </a:xfrm>
          <a:prstGeom prst="rect">
            <a:avLst/>
          </a:prstGeom>
          <a:solidFill>
            <a:srgbClr val="E5E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CMPE 255 Spring 2026  |  Patil, Kumar, Madhave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5288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